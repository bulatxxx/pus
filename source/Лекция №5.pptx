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94" r:id="rId2"/>
    <p:sldId id="317" r:id="rId3"/>
    <p:sldId id="318" r:id="rId4"/>
    <p:sldId id="319" r:id="rId5"/>
    <p:sldId id="320" r:id="rId6"/>
    <p:sldId id="321" r:id="rId7"/>
    <p:sldId id="322" r:id="rId8"/>
    <p:sldId id="324" r:id="rId9"/>
    <p:sldId id="323" r:id="rId10"/>
    <p:sldId id="325" r:id="rId11"/>
    <p:sldId id="326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3C66FD2-B223-40ED-A70A-6F8087E69D5E}" type="datetimeFigureOut">
              <a:rPr lang="ru-RU" smtClean="0"/>
              <a:t>21.01.2024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head.png"/>
          <p:cNvPicPr>
            <a:picLocks noChangeAspect="1"/>
          </p:cNvPicPr>
          <p:nvPr userDrawn="1"/>
        </p:nvPicPr>
        <p:blipFill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9" name="Прямоугольник 8"/>
          <p:cNvSpPr/>
          <p:nvPr userDrawn="1"/>
        </p:nvSpPr>
        <p:spPr>
          <a:xfrm>
            <a:off x="5545389" y="-44722"/>
            <a:ext cx="35986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B0F0"/>
                </a:solidFill>
                <a:latin typeface="PT Sans"/>
              </a:rPr>
              <a:t>Центр дистанционного обучения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7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openhab/openhab1-addons/wiki/Explanation-of-Sitemaps#element-selection" TargetMode="External"/><Relationship Id="rId13" Type="http://schemas.openxmlformats.org/officeDocument/2006/relationships/hyperlink" Target="https://github.com/openhab/openhab1-addons/wiki/Explanation-of-Sitemaps#element-video" TargetMode="External"/><Relationship Id="rId3" Type="http://schemas.openxmlformats.org/officeDocument/2006/relationships/hyperlink" Target="https://github.com/openhab/openhab1-addons/wiki/Explanation-of-Sitemaps#element-chart" TargetMode="External"/><Relationship Id="rId7" Type="http://schemas.openxmlformats.org/officeDocument/2006/relationships/hyperlink" Target="https://github.com/openhab/openhab1-addons/wiki/Explanation-of-Sitemaps#element-list" TargetMode="External"/><Relationship Id="rId12" Type="http://schemas.openxmlformats.org/officeDocument/2006/relationships/hyperlink" Target="https://github.com/openhab/openhab1-addons/wiki/Explanation-of-Sitemaps#element-text" TargetMode="External"/><Relationship Id="rId2" Type="http://schemas.openxmlformats.org/officeDocument/2006/relationships/hyperlink" Target="https://github.com/openhab/openhab1-addons/wiki/Explanation-of-Sitemaps#element-colorpick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penhab/openhab1-addons/wiki/Explanation-of-Sitemaps#element-image" TargetMode="External"/><Relationship Id="rId11" Type="http://schemas.openxmlformats.org/officeDocument/2006/relationships/hyperlink" Target="https://github.com/openhab/openhab1-addons/wiki/Explanation-of-Sitemaps#element-switch" TargetMode="External"/><Relationship Id="rId5" Type="http://schemas.openxmlformats.org/officeDocument/2006/relationships/hyperlink" Target="https://github.com/openhab/openhab1-addons/wiki/Explanation-of-Sitemaps#element-group" TargetMode="External"/><Relationship Id="rId10" Type="http://schemas.openxmlformats.org/officeDocument/2006/relationships/hyperlink" Target="https://github.com/openhab/openhab1-addons/wiki/Explanation-of-Sitemaps#element-slider" TargetMode="External"/><Relationship Id="rId4" Type="http://schemas.openxmlformats.org/officeDocument/2006/relationships/hyperlink" Target="https://github.com/openhab/openhab1-addons/wiki/Explanation-of-Sitemaps#element-frame" TargetMode="External"/><Relationship Id="rId9" Type="http://schemas.openxmlformats.org/officeDocument/2006/relationships/hyperlink" Target="https://github.com/openhab/openhab1-addons/wiki/Explanation-of-Sitemaps#element-setpoint" TargetMode="External"/><Relationship Id="rId14" Type="http://schemas.openxmlformats.org/officeDocument/2006/relationships/hyperlink" Target="https://github.com/openhab/openhab1-addons/wiki/Explanation-of-Sitemaps#element-webview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clipse.org/xtend/documentation.html#Xtend_Expression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092771" y="6083371"/>
            <a:ext cx="1907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PT Sans"/>
              </a:rPr>
              <a:t>Online</a:t>
            </a:r>
            <a:r>
              <a:rPr lang="ru-RU" sz="1400" b="1" dirty="0">
                <a:solidFill>
                  <a:schemeClr val="bg1"/>
                </a:solidFill>
                <a:latin typeface="PT Sans"/>
              </a:rPr>
              <a:t>-</a:t>
            </a:r>
            <a:r>
              <a:rPr lang="en-US" sz="1400" b="1" dirty="0">
                <a:solidFill>
                  <a:schemeClr val="bg1"/>
                </a:solidFill>
                <a:latin typeface="PT Sans"/>
              </a:rPr>
              <a:t>edu.mirea.ru</a:t>
            </a:r>
            <a:endParaRPr lang="ru-RU" sz="1400" b="1" dirty="0">
              <a:solidFill>
                <a:schemeClr val="bg1"/>
              </a:solidFill>
              <a:latin typeface="PT San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7958"/>
            <a:ext cx="9143999" cy="2644726"/>
          </a:xfrm>
        </p:spPr>
        <p:txBody>
          <a:bodyPr/>
          <a:lstStyle/>
          <a:p>
            <a:pPr algn="ctr"/>
            <a:r>
              <a:rPr lang="ru-RU" altLang="ru-RU" sz="6000" dirty="0">
                <a:latin typeface="Times New Roman" panose="02020603050405020304" pitchFamily="18" charset="0"/>
              </a:rPr>
              <a:t>Программирование управляемых технических систем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5CABD-092D-4CC1-B799-8089F6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ФИО преподавателя</a:t>
            </a:r>
            <a:r>
              <a:rPr lang="en-US" dirty="0"/>
              <a:t>: </a:t>
            </a:r>
            <a:r>
              <a:rPr lang="ru-RU" dirty="0" err="1"/>
              <a:t>Закожурников</a:t>
            </a:r>
            <a:r>
              <a:rPr lang="ru-RU" dirty="0"/>
              <a:t> Сергей Сергеевич</a:t>
            </a:r>
          </a:p>
          <a:p>
            <a:r>
              <a:rPr lang="en-US" dirty="0"/>
              <a:t>e-mail: zakozhurnikov@mirea.ru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007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63D4487-5AAB-4A03-9CC5-2FC91BD49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3485"/>
            <a:ext cx="32385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BB4C48-37EA-4399-9DCE-1992D986BA67}"/>
              </a:ext>
            </a:extLst>
          </p:cNvPr>
          <p:cNvSpPr txBox="1"/>
          <p:nvPr/>
        </p:nvSpPr>
        <p:spPr>
          <a:xfrm>
            <a:off x="3238500" y="1428136"/>
            <a:ext cx="57226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b="1" dirty="0">
                <a:solidFill>
                  <a:srgbClr val="2C3E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1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 H</a:t>
            </a:r>
            <a:r>
              <a:rPr lang="en-US" sz="2400" b="0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ome </a:t>
            </a:r>
            <a:r>
              <a:rPr lang="en-US" sz="2400" b="1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utomation </a:t>
            </a:r>
            <a:r>
              <a:rPr lang="en-US" sz="2400" b="1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0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 (</a:t>
            </a:r>
            <a:r>
              <a:rPr lang="en-US" sz="2400" b="0" i="0" dirty="0" err="1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lang="en-US" sz="2400" b="0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ru-RU" sz="2400" b="0" i="0" dirty="0">
                <a:solidFill>
                  <a:srgbClr val="2C3E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 открытым исходным кодом, для платформы по автоматизации «умных» вещей.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37122-963A-4697-B767-7FFEC8097A37}"/>
              </a:ext>
            </a:extLst>
          </p:cNvPr>
          <p:cNvSpPr txBox="1"/>
          <p:nvPr/>
        </p:nvSpPr>
        <p:spPr>
          <a:xfrm>
            <a:off x="900332" y="4184138"/>
            <a:ext cx="82436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O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penHAB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реализует единую шину, т.е. позволяет объединить все устройства с разными протоколами в единую сеть, абстрагируя пользователя от каждого конкретного протокола. Таким образом, можно пользоваться единственным средством управления (скажем, приложением на смартфоне) и реализовать сколь угодно сложную логику взаимосвязи между устройствами.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15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D43CD9-65F3-443A-95CE-1D0C91EA15A5}"/>
              </a:ext>
            </a:extLst>
          </p:cNvPr>
          <p:cNvSpPr txBox="1"/>
          <p:nvPr/>
        </p:nvSpPr>
        <p:spPr>
          <a:xfrm>
            <a:off x="0" y="487025"/>
            <a:ext cx="9144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Отличительные особенности </a:t>
            </a:r>
            <a:r>
              <a:rPr lang="ru-RU" sz="2400" b="1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</a:t>
            </a:r>
            <a:r>
              <a:rPr lang="en-US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</a:p>
          <a:p>
            <a:r>
              <a:rPr lang="ru-RU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Во-первых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он развивается уже довольно давно и уже сейчас готов к полноценному использованию</a:t>
            </a:r>
            <a:r>
              <a:rPr lang="en-US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его освоение занимает совсем немного времени. И после этого он работает действительно так, как заявлено в описании.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Во-вторых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это проект с открытым исходным кодом. А это значит, что весь код создается программистами со всего мира, которые заинтересованы в теме интернета вещей и создания единой системы умного дома.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В-третьих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в результате открытости уже сейчас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поддерживает около 50</a:t>
            </a: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различных протоколов «умных» устройств. Среди них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ZWave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KNX,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EnOcean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системы мультимедиа типа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Sonos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кинотеатр XBMC, Samsung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SmartTV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многие-многие другие. Это, в свою очередь, дает возможность пользователю выбирать устройства для своего дома по самым разнообразным параметрам, практически не ограничиваясь возможностями всей платформы.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442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DD9CB0-56E5-4099-A0FF-7420E4755CD2}"/>
              </a:ext>
            </a:extLst>
          </p:cNvPr>
          <p:cNvSpPr txBox="1"/>
          <p:nvPr/>
        </p:nvSpPr>
        <p:spPr>
          <a:xfrm>
            <a:off x="0" y="1405155"/>
            <a:ext cx="9144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работы: </a:t>
            </a:r>
            <a:endParaRPr lang="en-US" sz="2400" b="1" i="0" dirty="0"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специальный сервер, который может работать на любом компьютере под управлением любой ОС. Вся установка заключается в распаковывании дистрибутива сервера и установке </a:t>
            </a:r>
            <a:r>
              <a:rPr lang="ru-RU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машины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Далее начинается процесс настройки и созидания.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очень гибкий конструктор. Основанный на технологии </a:t>
            </a:r>
            <a:r>
              <a:rPr lang="ru-RU" sz="2400" b="0" i="1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OSGi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он позволяет конфигурировать каждый отдельный плагин (</a:t>
            </a:r>
            <a:r>
              <a:rPr lang="ru-RU" sz="2400" b="0" i="1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Binding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«налету», не перезагружая весь сервер.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918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4EC76B1-77CF-4CBB-8A04-4848F6DD8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54" y="0"/>
            <a:ext cx="763929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713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B8D59A-5356-4E1F-B184-531D97B0E39A}"/>
              </a:ext>
            </a:extLst>
          </p:cNvPr>
          <p:cNvSpPr txBox="1"/>
          <p:nvPr/>
        </p:nvSpPr>
        <p:spPr>
          <a:xfrm>
            <a:off x="0" y="1143398"/>
            <a:ext cx="9144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b="0" i="0" u="sng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Плагин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биндинг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в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то самое связующее звено между конкретным протоколом устройства и единой системой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Пользователь может добавить в свою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инсталяцию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только те плагины, которые нужны именно ему. </a:t>
            </a:r>
          </a:p>
          <a:p>
            <a:pPr algn="just"/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 настройки связи между каждым устройством и соответствующим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биндингом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сможет общаться с ним посредством простых команд, </a:t>
            </a:r>
            <a:r>
              <a:rPr lang="ru-RU" sz="2400" b="0" i="1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абстрагированных от конкретного протокола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Скажем, для включения/выключения есть команды ON/OFF, для открытия/закрытия UP/DOWN и т.д.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дальнейшем, используя только такие абстрактные команды, можно будет создавать очень сложные сценарии и, что называется, программировать собственный дом.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72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1EB7AF-A9EB-4086-8C09-9BD1E07E5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1017"/>
            <a:ext cx="9144000" cy="553997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item-ов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binding-ов</a:t>
            </a:r>
            <a:endParaRPr kumimoji="0" lang="ru-RU" altLang="ru-RU" sz="2400" b="1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Каждое «умное» устройство в доме должно быть сконфигурировано в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как один или несколько </a:t>
            </a:r>
            <a:r>
              <a:rPr kumimoji="0" lang="ru-RU" altLang="ru-RU" sz="2400" b="0" i="1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-ов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Они описываются в специальном файле в директории </a:t>
            </a:r>
            <a:r>
              <a:rPr kumimoji="0" lang="ru-RU" altLang="ru-RU" sz="2400" b="0" i="1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ru-RU" altLang="ru-RU" sz="2400" b="0" i="1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Вот пример одного такого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-а: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400" dirty="0" err="1">
                <a:solidFill>
                  <a:srgbClr val="11111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Dimmer</a:t>
            </a:r>
            <a:r>
              <a:rPr lang="ru-RU" altLang="ru-RU" sz="2400" dirty="0">
                <a:solidFill>
                  <a:srgbClr val="11111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 err="1">
                <a:solidFill>
                  <a:srgbClr val="11111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Light_GF_Living_Table</a:t>
            </a:r>
            <a:r>
              <a:rPr lang="ru-RU" altLang="ru-RU" sz="2400" dirty="0">
                <a:solidFill>
                  <a:srgbClr val="11111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ru-RU" altLang="ru-RU" sz="2400" dirty="0" err="1">
                <a:solidFill>
                  <a:srgbClr val="11111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ru-RU" altLang="ru-RU" sz="2400" dirty="0">
                <a:solidFill>
                  <a:srgbClr val="11111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ru-RU" altLang="ru-RU" sz="2400" dirty="0" err="1">
                <a:solidFill>
                  <a:srgbClr val="11111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GF_Living</a:t>
            </a:r>
            <a:r>
              <a:rPr lang="ru-RU" altLang="ru-RU" sz="2400" dirty="0">
                <a:solidFill>
                  <a:srgbClr val="11111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2400" dirty="0" err="1">
                <a:solidFill>
                  <a:srgbClr val="11111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Lights</a:t>
            </a:r>
            <a:r>
              <a:rPr lang="ru-RU" altLang="ru-RU" sz="2400" dirty="0">
                <a:solidFill>
                  <a:srgbClr val="11111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ru-RU" sz="2400" dirty="0">
              <a:solidFill>
                <a:srgbClr val="11111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4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Важно понимать, что </a:t>
            </a:r>
            <a:r>
              <a:rPr lang="ru-RU" sz="2400" dirty="0" err="1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ru-RU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конфигурации не обязан быть отдельным устройством.</a:t>
            </a:r>
            <a:r>
              <a:rPr lang="ru-RU" altLang="ru-RU" sz="240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ru-RU" sz="24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penHAB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дает возможность использовать разные 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-ы как элементы управления для всего, что подходит под какие-либо критерии (в данном случае, что-то должно уметь включаться, выключаться и принимать значение от 0 до 100).</a:t>
            </a:r>
            <a:endParaRPr lang="ru-RU" altLang="ru-RU" sz="2400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997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A272EA-F139-4FAF-BB34-1F2897BA4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66842"/>
            <a:ext cx="9144000" cy="452431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общем случае, синтаксис описания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-а таков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itemtype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itemname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["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labeltext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"] [] [(group1, group2, ...)] [{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bindingconfig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}]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видите, сперва идет тип (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Dimmer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Color,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Number,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Rollershutter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Contact, Group), затем уникальное в рамках файла имя, опциональные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(то, что будет отображено в UI), иконка (из набора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одна или несколько групп (для объединения устройств по смыслу или расположению) и собственно конфигурация самого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биндинга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в фигурных скобках;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638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0BA5D59-F52B-49CE-AF58-3787529C63A6}"/>
              </a:ext>
            </a:extLst>
          </p:cNvPr>
          <p:cNvGraphicFramePr>
            <a:graphicFrameLocks noGrp="1"/>
          </p:cNvGraphicFramePr>
          <p:nvPr/>
        </p:nvGraphicFramePr>
        <p:xfrm>
          <a:off x="0" y="56270"/>
          <a:ext cx="6260124" cy="6857999"/>
        </p:xfrm>
        <a:graphic>
          <a:graphicData uri="http://schemas.openxmlformats.org/drawingml/2006/table">
            <a:tbl>
              <a:tblPr/>
              <a:tblGrid>
                <a:gridCol w="1291131">
                  <a:extLst>
                    <a:ext uri="{9D8B030D-6E8A-4147-A177-3AD203B41FA5}">
                      <a16:colId xmlns:a16="http://schemas.microsoft.com/office/drawing/2014/main" val="3654885494"/>
                    </a:ext>
                  </a:extLst>
                </a:gridCol>
                <a:gridCol w="2444088">
                  <a:extLst>
                    <a:ext uri="{9D8B030D-6E8A-4147-A177-3AD203B41FA5}">
                      <a16:colId xmlns:a16="http://schemas.microsoft.com/office/drawing/2014/main" val="1496150633"/>
                    </a:ext>
                  </a:extLst>
                </a:gridCol>
                <a:gridCol w="2524905">
                  <a:extLst>
                    <a:ext uri="{9D8B030D-6E8A-4147-A177-3AD203B41FA5}">
                      <a16:colId xmlns:a16="http://schemas.microsoft.com/office/drawing/2014/main" val="2978890223"/>
                    </a:ext>
                  </a:extLst>
                </a:gridCol>
              </a:tblGrid>
              <a:tr h="28326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Item Name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Command Types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043629"/>
                  </a:ext>
                </a:extLst>
              </a:tr>
              <a:tr h="516472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Color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Color information (RGB)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OnOff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IncreaseDecrease</a:t>
                      </a:r>
                      <a:r>
                        <a:rPr lang="en-US" sz="1400" dirty="0">
                          <a:effectLst/>
                        </a:rPr>
                        <a:t>, Percent, HSB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570395"/>
                  </a:ext>
                </a:extLst>
              </a:tr>
              <a:tr h="516472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Contact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Item storing status of e.g. door/window contacts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OpenClosed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176529"/>
                  </a:ext>
                </a:extLst>
              </a:tr>
              <a:tr h="28326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DateTime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Stores date and time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-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113969"/>
                  </a:ext>
                </a:extLst>
              </a:tr>
              <a:tr h="662790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Dimmer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Item carrying a percentage value for dimmers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OnOff, IncreaseDecrease, Percent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621403"/>
                  </a:ext>
                </a:extLst>
              </a:tr>
              <a:tr h="516472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Group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Item to nest other Items / collect them in Groups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-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193435"/>
                  </a:ext>
                </a:extLst>
              </a:tr>
              <a:tr h="516472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Image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Holds the binary data of an image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-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252380"/>
                  </a:ext>
                </a:extLst>
              </a:tr>
              <a:tr h="28326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Location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Stores GPS coordinates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Point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280651"/>
                  </a:ext>
                </a:extLst>
              </a:tr>
              <a:tr h="74967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Number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Stores values in number format, takes an optional dimension suffix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Decimal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790314"/>
                  </a:ext>
                </a:extLst>
              </a:tr>
              <a:tr h="74967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Number:&lt;dimension&gt;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like Number, additional dimension information for unit support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Quantity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135500"/>
                  </a:ext>
                </a:extLst>
              </a:tr>
              <a:tr h="516472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Player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Allows to control players (e.g. audio players)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PlayPause, NextPrevious, RewindFastforward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315648"/>
                  </a:ext>
                </a:extLst>
              </a:tr>
              <a:tr h="463953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Rollershutter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Typically used for blinds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UpDown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StopMove</a:t>
                      </a:r>
                      <a:r>
                        <a:rPr lang="en-US" sz="1400" dirty="0">
                          <a:effectLst/>
                        </a:rPr>
                        <a:t>, Percent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697878"/>
                  </a:ext>
                </a:extLst>
              </a:tr>
              <a:tr h="283268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String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Stores texts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String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910638"/>
                  </a:ext>
                </a:extLst>
              </a:tr>
              <a:tr h="516472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Switch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Typically used for lights (on/off)</a:t>
                      </a: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OnOff</a:t>
                      </a:r>
                      <a:endParaRPr lang="en-US" sz="1400" dirty="0">
                        <a:effectLst/>
                      </a:endParaRPr>
                    </a:p>
                  </a:txBody>
                  <a:tcPr marL="45804" marR="45804" marT="22902" marB="22902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231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605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96A648-54EE-4439-B3BE-BD5147107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74" y="948690"/>
            <a:ext cx="9144000" cy="590931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Binding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или как связать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 устройством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400" b="0" i="0" u="sng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Биндинг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связывает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 каким-то конкретным устройством (или его функцией). Это нужно для того, чтобы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преобразовывал абстрактные команды типа On/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конкретные сообщения нужного протокола, а также правильно интерпретировал сообщения от устройства. Вот пример KNX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биндинга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простого переключателя: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Light_GF_Living_Table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GF_Living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Lights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{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knx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="1/0/15+0/0/15" }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 каждого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биндинга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свой синтаксис конфигурации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это одна строчка в фигурных скобках, в которой необходимо указать все что нужно для связи с устройством по 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конкретному протоколу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Здесь указан протокол KNX и его конфигурация в виде двух адресов - 1/0/15 для управления и 0/0/15 для получения статуса от устройства.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9657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ED405B1-27A7-45A8-8C7C-DBE012ABB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7497"/>
            <a:ext cx="9144000" cy="6647974"/>
          </a:xfrm>
          <a:prstGeom prst="rect">
            <a:avLst/>
          </a:prstGeom>
          <a:solidFill>
            <a:srgbClr val="FBF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Здесь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предлагает довольно интересный способ построения UI "на лету" с помощью файлов описания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sitemap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 директории </a:t>
            </a:r>
            <a:r>
              <a:rPr kumimoji="0" lang="ru-RU" altLang="ru-RU" sz="2400" b="0" i="1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configuratnios</a:t>
            </a:r>
            <a:r>
              <a:rPr kumimoji="0" lang="ru-RU" altLang="ru-RU" sz="2400" b="0" i="1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ru-RU" altLang="ru-RU" sz="2400" b="0" i="1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sitemaps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лежат файлы, в которых нужно описать то, как должен выглядеть пользовательский интерфейс (а точнее, его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для управления теми устройствами, которые мы описали в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Вот простейший пример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EAB7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sitemap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4D4D4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4D4D4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400" dirty="0">
                <a:solidFill>
                  <a:srgbClr val="4D4D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EAB7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Percent-based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Widgets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4D4D4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400" dirty="0">
                <a:solidFill>
                  <a:srgbClr val="4D4D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EAB7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DimmedLight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switchSupport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4D4D4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400" dirty="0">
                <a:solidFill>
                  <a:srgbClr val="4D4D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Colorpicker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RGBLight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icon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718C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4D4D4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400" dirty="0">
                <a:solidFill>
                  <a:srgbClr val="4D4D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DemoShutter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4D4D4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400" dirty="0">
                <a:solidFill>
                  <a:srgbClr val="4D4D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DemoBlinds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4D4D4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400" dirty="0">
                <a:solidFill>
                  <a:srgbClr val="4D4D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rgbClr val="4D4D4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4D4D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6262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A9577DF-7AB8-48CC-9E9B-6FB9CBED7B9C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095194" cy="6703644"/>
        </p:xfrm>
        <a:graphic>
          <a:graphicData uri="http://schemas.openxmlformats.org/drawingml/2006/table">
            <a:tbl>
              <a:tblPr/>
              <a:tblGrid>
                <a:gridCol w="1819232">
                  <a:extLst>
                    <a:ext uri="{9D8B030D-6E8A-4147-A177-3AD203B41FA5}">
                      <a16:colId xmlns:a16="http://schemas.microsoft.com/office/drawing/2014/main" val="878783524"/>
                    </a:ext>
                  </a:extLst>
                </a:gridCol>
                <a:gridCol w="7275962">
                  <a:extLst>
                    <a:ext uri="{9D8B030D-6E8A-4147-A177-3AD203B41FA5}">
                      <a16:colId xmlns:a16="http://schemas.microsoft.com/office/drawing/2014/main" val="1029492690"/>
                    </a:ext>
                  </a:extLst>
                </a:gridCol>
              </a:tblGrid>
              <a:tr h="319504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Element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187034"/>
                  </a:ext>
                </a:extLst>
              </a:tr>
              <a:tr h="383742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Colorpicker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Allows the user to choose a color from a color wheel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98642"/>
                  </a:ext>
                </a:extLst>
              </a:tr>
              <a:tr h="383742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Chart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a time-series chart object for displaying logged data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037883"/>
                  </a:ext>
                </a:extLst>
              </a:tr>
              <a:tr h="592138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Frame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with either various other sitemap elements or further nested frames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685354"/>
                  </a:ext>
                </a:extLst>
              </a:tr>
              <a:tr h="592138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Group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Renders all elements of a given group defined in an items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definiton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file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203212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Image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Renders an image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003533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List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supported by any user interface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53973"/>
                  </a:ext>
                </a:extLst>
              </a:tr>
              <a:tr h="592138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Selection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Gives access to a new page where the user can choose among values defined in the mappings parameter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97490"/>
                  </a:ext>
                </a:extLst>
              </a:tr>
              <a:tr h="864772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Setpoint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a value and allows the user to modify it. Optionally, it is possible to specify maximum and minimum allowed values, as well as a step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375661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Slider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Renders a slider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375222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1"/>
                        </a:rPr>
                        <a:t>Switch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Renders a switch item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300746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2"/>
                        </a:rPr>
                        <a:t>Text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Renders a text element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980857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3"/>
                        </a:rPr>
                        <a:t>Video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a video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348328"/>
                  </a:ext>
                </a:extLst>
              </a:tr>
              <a:tr h="319504">
                <a:tc>
                  <a:txBody>
                    <a:bodyPr/>
                    <a:lstStyle/>
                    <a:p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4"/>
                        </a:rPr>
                        <a:t>Webview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 a webpage</a:t>
                      </a:r>
                    </a:p>
                  </a:txBody>
                  <a:tcPr marL="68121" marR="68121" marT="31440" marB="314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557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968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8330CB-59FB-42B0-B203-31E20A8FA03D}"/>
              </a:ext>
            </a:extLst>
          </p:cNvPr>
          <p:cNvSpPr txBox="1"/>
          <p:nvPr/>
        </p:nvSpPr>
        <p:spPr>
          <a:xfrm>
            <a:off x="0" y="1682154"/>
            <a:ext cx="9144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penHAB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еще предоставляет очень мощный инструмент программирования логики - </a:t>
            </a:r>
            <a:r>
              <a:rPr lang="ru-RU" sz="2400" b="0" i="0" u="sng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скрипты и правила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 помощью них можно описать действительно умное поведение устройств в зависимости от разных условий.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Скрипты и правила описываются в файлах директорий </a:t>
            </a:r>
            <a:r>
              <a:rPr lang="ru-RU" sz="2400" b="0" i="1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scripts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sz="2400" b="0" i="1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0" i="0" dirty="0" err="1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соответсвенно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языке </a:t>
            </a:r>
            <a:r>
              <a:rPr lang="ru-RU" sz="2400" b="0" i="0" u="none" strike="noStrike" dirty="0" err="1">
                <a:solidFill>
                  <a:srgbClr val="548EA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Xtend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разработанном Eclipse.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sz="2400" b="0" i="0" u="sng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скрипт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это кусок кода, который может быть запущен в какой-то момент, то </a:t>
            </a:r>
            <a:r>
              <a:rPr lang="ru-RU" sz="2400" b="0" i="0" u="sng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</a:t>
            </a:r>
            <a:r>
              <a:rPr lang="ru-RU" sz="2400" b="0" i="0" dirty="0"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это основной механизм автоматизации.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10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D1EC8F-733D-4DC2-A533-5DF96ABC0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840"/>
            <a:ext cx="9144000" cy="573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124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AAF0AB-6CE4-403B-9219-0DEB445A5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4981"/>
            <a:ext cx="9143999" cy="356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26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8FCECA-BB7B-49EA-A0DD-156DEFDF3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11409"/>
            <a:ext cx="9143999" cy="5078313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Триггеры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Каждое правило начинает выполняться только при срабатывании одного из триггеров, описанного между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Триггер - это некоторое событие:</a:t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поступление команды от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-а (например, при включении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через UI)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состояния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-а (например, в момент открытия штор от привода последовательно приходят значения от 0 до 100)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изменение текущего времени на сервере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(например, Time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midnight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старт или остановка сервера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1111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opnaHAB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11111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408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C80725-8535-43BC-80DA-FC9CC78D1EEF}"/>
              </a:ext>
            </a:extLst>
          </p:cNvPr>
          <p:cNvSpPr txBox="1"/>
          <p:nvPr/>
        </p:nvSpPr>
        <p:spPr>
          <a:xfrm>
            <a:off x="0" y="1411516"/>
            <a:ext cx="9144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ru-RU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MQTT для 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lang="ru-RU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Интернета вещей</a:t>
            </a:r>
          </a:p>
          <a:p>
            <a:pPr algn="l" fontAlgn="base"/>
            <a:endParaRPr lang="ru-RU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MQTT — это легкая система обмена сообщениями для межмашинного общения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fontAlgn="base"/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MQ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Telemetry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Transport была изобретена еще в 1999 году для соединения нефтепроводов через медленные спутниковые соединения, специально разработанные для минимизации использования батареи и пропускной способности, при этом обеспечивая надежную доставку данных.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2010 году протокол был выпущен без лицензионных платежей, открытый для любого использования и реализации.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MQTT легок, поэтому отправка сообщений по сети не приведет к засорению каналов и может легко вписаться в маленькое пространство памяти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микроконтроллера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546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95FEC8-EED3-4F78-B035-8B7B0F3DFB69}"/>
              </a:ext>
            </a:extLst>
          </p:cNvPr>
          <p:cNvSpPr txBox="1"/>
          <p:nvPr/>
        </p:nvSpPr>
        <p:spPr>
          <a:xfrm>
            <a:off x="112542" y="1070885"/>
            <a:ext cx="89189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ru-RU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работает MQTT?</a:t>
            </a:r>
          </a:p>
          <a:p>
            <a:pPr algn="l" fontAlgn="base"/>
            <a:endParaRPr lang="ru-RU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MQTT требует как сервера (называемого «брокером»), так и одного или нескольких клиентов. Сервер выступает в роли посредника, получая сообщения и ретранслируя их любым заинтересованным клиентам.</a:t>
            </a:r>
          </a:p>
          <a:p>
            <a:pPr algn="l" fontAlgn="base"/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Давайте продолжим аналогию с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машин. Так же, как пользователи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могут твитнуть свои бессмысленные 140 символов, так и пользователи могут «подписаться» на других пользователей, чтобы увидеть курируемый поток сообщений, клиенты MQTT могут подписаться на определенный канал, чтобы получать оттуда все сообщения, а также публиковать собственные сообщения. на этот канал. Этот шаблон публикации и подписки называется </a:t>
            </a:r>
            <a:r>
              <a:rPr lang="ru-RU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Паб / </a:t>
            </a:r>
            <a:r>
              <a:rPr lang="ru-RU" sz="24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суб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в отличие от традиции </a:t>
            </a:r>
            <a:r>
              <a:rPr lang="ru-RU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клиент / сервер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модель HTTP.</a:t>
            </a:r>
          </a:p>
        </p:txBody>
      </p:sp>
    </p:spTree>
    <p:extLst>
      <p:ext uri="{BB962C8B-B14F-4D97-AF65-F5344CB8AC3E}">
        <p14:creationId xmlns:p14="http://schemas.microsoft.com/office/powerpoint/2010/main" val="1335769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4F0B90-6140-4755-B4ED-DFCED933BAB9}"/>
              </a:ext>
            </a:extLst>
          </p:cNvPr>
          <p:cNvSpPr txBox="1"/>
          <p:nvPr/>
        </p:nvSpPr>
        <p:spPr>
          <a:xfrm>
            <a:off x="0" y="1420838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В отличие от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Twitter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MQTT не ограничен 140 символами. Он не зависит от данных, поэтому вы можете отправлять небольшие числа или большие текстовые блоки, дейтаграммы в формате JSON или даже изображения и двоичные файлы.</a:t>
            </a:r>
          </a:p>
          <a:p>
            <a:pPr algn="just"/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Также важно знать, что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не будет выступать в качестве вашего MQTT-брокера — об этом мы поговорим чуть позже. Однако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будет действовать как клиент: он может публиковать ваш журнал активности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OpenHAB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привязывать определенные каналы к устройствам, так что вы можете, например, иметь переключатель, который управляется сообщениями MQTT на определенном канале. Это идеально подходит для создания дома, полного датчиков.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884120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2788</TotalTime>
  <Words>1633</Words>
  <Application>Microsoft Office PowerPoint</Application>
  <PresentationFormat>Экран (4:3)</PresentationFormat>
  <Paragraphs>118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PT Sans</vt:lpstr>
      <vt:lpstr>Times New Roman</vt:lpstr>
      <vt:lpstr>Специальное оформление</vt:lpstr>
      <vt:lpstr>Программирование управляемых технических систем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Закожурников Сергей Сергеевич</cp:lastModifiedBy>
  <cp:revision>109</cp:revision>
  <dcterms:created xsi:type="dcterms:W3CDTF">2015-07-29T11:14:37Z</dcterms:created>
  <dcterms:modified xsi:type="dcterms:W3CDTF">2024-01-21T08:59:29Z</dcterms:modified>
</cp:coreProperties>
</file>