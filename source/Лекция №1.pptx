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94" r:id="rId2"/>
    <p:sldId id="293" r:id="rId3"/>
    <p:sldId id="295" r:id="rId4"/>
    <p:sldId id="296" r:id="rId5"/>
    <p:sldId id="297" r:id="rId6"/>
    <p:sldId id="312" r:id="rId7"/>
    <p:sldId id="299" r:id="rId8"/>
    <p:sldId id="300" r:id="rId9"/>
    <p:sldId id="301" r:id="rId10"/>
    <p:sldId id="302" r:id="rId11"/>
    <p:sldId id="313" r:id="rId12"/>
    <p:sldId id="303" r:id="rId13"/>
    <p:sldId id="304" r:id="rId14"/>
    <p:sldId id="305" r:id="rId15"/>
    <p:sldId id="314" r:id="rId16"/>
    <p:sldId id="306" r:id="rId17"/>
    <p:sldId id="307" r:id="rId18"/>
    <p:sldId id="308" r:id="rId19"/>
    <p:sldId id="309" r:id="rId20"/>
    <p:sldId id="31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head.png"/>
          <p:cNvPicPr>
            <a:picLocks noChangeAspect="1"/>
          </p:cNvPicPr>
          <p:nvPr userDrawn="1"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9" name="Прямоугольник 8"/>
          <p:cNvSpPr/>
          <p:nvPr userDrawn="1"/>
        </p:nvSpPr>
        <p:spPr>
          <a:xfrm>
            <a:off x="5545389" y="-44722"/>
            <a:ext cx="35986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B0F0"/>
                </a:solidFill>
                <a:latin typeface="PT Sans"/>
              </a:rPr>
              <a:t>Центр дистанционного обучения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7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092771" y="6083371"/>
            <a:ext cx="1907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PT Sans"/>
              </a:rPr>
              <a:t>Online</a:t>
            </a:r>
            <a:r>
              <a:rPr lang="ru-RU" sz="1400" b="1" dirty="0">
                <a:solidFill>
                  <a:schemeClr val="bg1"/>
                </a:solidFill>
                <a:latin typeface="PT Sans"/>
              </a:rPr>
              <a:t>-</a:t>
            </a:r>
            <a:r>
              <a:rPr lang="en-US" sz="1400" b="1" dirty="0">
                <a:solidFill>
                  <a:schemeClr val="bg1"/>
                </a:solidFill>
                <a:latin typeface="PT Sans"/>
              </a:rPr>
              <a:t>edu.mirea.ru</a:t>
            </a:r>
            <a:endParaRPr lang="ru-RU" sz="1400" b="1" dirty="0">
              <a:solidFill>
                <a:schemeClr val="bg1"/>
              </a:solidFill>
              <a:latin typeface="PT San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7958"/>
            <a:ext cx="9143999" cy="2644726"/>
          </a:xfrm>
        </p:spPr>
        <p:txBody>
          <a:bodyPr/>
          <a:lstStyle/>
          <a:p>
            <a:pPr algn="ctr"/>
            <a:r>
              <a:rPr lang="ru-RU" altLang="ru-RU" sz="6000" dirty="0">
                <a:latin typeface="Times New Roman" panose="02020603050405020304" pitchFamily="18" charset="0"/>
              </a:rPr>
              <a:t>Программирование управляемых технических систем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5CABD-092D-4CC1-B799-8089F630E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ФИО преподавателя</a:t>
            </a:r>
            <a:r>
              <a:rPr lang="en-US" dirty="0"/>
              <a:t>: </a:t>
            </a:r>
            <a:r>
              <a:rPr lang="ru-RU" dirty="0" err="1"/>
              <a:t>Закожурников</a:t>
            </a:r>
            <a:r>
              <a:rPr lang="ru-RU" dirty="0"/>
              <a:t> Сергей Сергеевич</a:t>
            </a:r>
          </a:p>
          <a:p>
            <a:r>
              <a:rPr lang="en-US" dirty="0"/>
              <a:t>e-mail: zakozhurnikov@mirea.ru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007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74188"/>
            <a:ext cx="6858000" cy="751914"/>
          </a:xfrm>
        </p:spPr>
        <p:txBody>
          <a:bodyPr/>
          <a:lstStyle/>
          <a:p>
            <a:r>
              <a:rPr lang="ru-RU" sz="4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 интернета вещей: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81CF54-14CE-4968-B068-17D7ED613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98" y="2089800"/>
            <a:ext cx="8304404" cy="6231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91735D-6293-4688-8182-515E91FC1F8A}"/>
              </a:ext>
            </a:extLst>
          </p:cNvPr>
          <p:cNvSpPr txBox="1"/>
          <p:nvPr/>
        </p:nvSpPr>
        <p:spPr>
          <a:xfrm>
            <a:off x="0" y="2944284"/>
            <a:ext cx="9144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 вещей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(Internet of Things, IoT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это глобальная сеть компьютеров, датчиков (сенсоров) и исполнительных устройств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актуаторов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связывающихся между собой с использованием интернет протокола IP (Internet Protocol). Например, для решения определенной задачи компьютер связывается через публичный интернет с небольшим устройством, к которому подключен соответствующий датчик (например, температуры), как это показано на рисунке. 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9A3FBBD-28CC-4302-9EFE-28B70E0E4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926" y="4698610"/>
            <a:ext cx="4656723" cy="217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191735D-6293-4688-8182-515E91FC1F8A}"/>
              </a:ext>
            </a:extLst>
          </p:cNvPr>
          <p:cNvSpPr txBox="1"/>
          <p:nvPr/>
        </p:nvSpPr>
        <p:spPr>
          <a:xfrm>
            <a:off x="0" y="900721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настоящее время происходит эволюционный переход от «Интернета людей» к «Интернету вещей».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общем случае под Интернетом вещей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понимается совокупность разнообразных приборов, датчиков, устройств, объединённых в сеть посредством любых доступных каналов связи, использующих различные протоколы взаимодействия между собой и единственный протокол доступа к глобальной сети. В роли глобальной сети для Интернет-вещей в настоящий момент используется сеть Интернет. Общим протоколом является IP.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26AE82-BC12-4B66-A5A1-4B82622ED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3152775"/>
            <a:ext cx="537210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841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191735D-6293-4688-8182-515E91FC1F8A}"/>
              </a:ext>
            </a:extLst>
          </p:cNvPr>
          <p:cNvSpPr txBox="1"/>
          <p:nvPr/>
        </p:nvSpPr>
        <p:spPr>
          <a:xfrm>
            <a:off x="0" y="1351508"/>
            <a:ext cx="9144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Интернет вещей не исключает участие человека.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каждая вещь имеет свой уникальный идентификатор, которые совместно способны взаимодействовать друг с другом, создавая временные или постоянные сети.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создавать комбинацию из интеллектуальных устройств, объединенных сетями связи, и людей. Совместно они могут создавать самые разнообразные системы, например, для работы в средах, неудобных или недоступных для человека (в космосе, на большой глубине, на ядерных установках, в трубопроводах и т.п.).</a:t>
            </a:r>
          </a:p>
        </p:txBody>
      </p:sp>
    </p:spTree>
    <p:extLst>
      <p:ext uri="{BB962C8B-B14F-4D97-AF65-F5344CB8AC3E}">
        <p14:creationId xmlns:p14="http://schemas.microsoft.com/office/powerpoint/2010/main" val="1723570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92B517-A599-4AAB-92B2-1885738A7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4769"/>
            <a:ext cx="8482818" cy="528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35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74188"/>
            <a:ext cx="6858000" cy="751914"/>
          </a:xfrm>
        </p:spPr>
        <p:txBody>
          <a:bodyPr/>
          <a:lstStyle/>
          <a:p>
            <a:br>
              <a:rPr lang="ru-RU" sz="4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Базовые принципы </a:t>
            </a:r>
            <a:r>
              <a:rPr lang="en-US" sz="4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endParaRPr lang="ru-RU" sz="4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91735D-6293-4688-8182-515E91FC1F8A}"/>
              </a:ext>
            </a:extLst>
          </p:cNvPr>
          <p:cNvSpPr txBox="1"/>
          <p:nvPr/>
        </p:nvSpPr>
        <p:spPr>
          <a:xfrm>
            <a:off x="0" y="1917343"/>
            <a:ext cx="9144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Интернет вещей основывается на трех базовых принципах: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  повсеместно распространенная коммуникационная инфраструктура,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  глобальная идентификация каждого объекта,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возможность каждого объекта отправлять и получать данные посредством персональной сети или сети Интернет, к которой он подключен. 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/>
              <a:t>	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важными отличиями Интернета вещей от существующего интернета людей являются: 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 фокус на вещах, а не на человеке; 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 существенно большее число подключенных объектов;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существенно меньшие размеры объектов и невысокие скорости передачи данных; 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 фокус на считывании информации, а не на коммуникациях; 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 необходимость создания новой инфраструктуры и альтернативных стандартов.</a:t>
            </a:r>
          </a:p>
        </p:txBody>
      </p:sp>
    </p:spTree>
    <p:extLst>
      <p:ext uri="{BB962C8B-B14F-4D97-AF65-F5344CB8AC3E}">
        <p14:creationId xmlns:p14="http://schemas.microsoft.com/office/powerpoint/2010/main" val="4192125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469290-BABE-43E5-B138-C1F3B112C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6433"/>
            <a:ext cx="9144000" cy="381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BA1C80-B9E9-44F0-8E94-5B6E2CC1DCB2}"/>
              </a:ext>
            </a:extLst>
          </p:cNvPr>
          <p:cNvSpPr txBox="1"/>
          <p:nvPr/>
        </p:nvSpPr>
        <p:spPr>
          <a:xfrm>
            <a:off x="0" y="1128157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глобальная инфраструктура информационного общества, обеспечивающая передовые услуги за счет организации связи между вещами (физическими или виртуальными) на основе существующих и развивающихся совместимых информационных и коммуникационных технологий.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Под «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вещами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здесь понимается физический объект (физическая вещь) или объект виртуального (информационного) мира (виртуальная вещь, например мультимедийный контент или прикладная программа), которые могут быть идентифицированы и объединены через коммуникационные сети.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Под понятием «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понимается часть оборудования с обязательными возможностями по коммуникации и необязательными возможностями по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сенсорингу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/зондированию, приведению в действие вещи, сбору, обработке и хранению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450872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1E71ED-0C2F-42A8-85DF-3CEFA32F8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8383"/>
            <a:ext cx="9144000" cy="391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550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BEBBEF-63BB-45FB-9C22-8281740E0920}"/>
              </a:ext>
            </a:extLst>
          </p:cNvPr>
          <p:cNvSpPr txBox="1"/>
          <p:nvPr/>
        </p:nvSpPr>
        <p:spPr>
          <a:xfrm>
            <a:off x="0" y="1533378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Следует различать понятия «Интернет вещей» и «интернет-вещь».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 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интернет-вещью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понимается любое устройство, которое: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 имеет доступ к сети Интернет с целью передачи или запроса каких-либо данных,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 имеет конкретный адрес в глобальной сети или идентификатор, по которому можно осуществить обратную связь с вещью,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 имеет интерфейс для взаимодействия с пользователем.</a:t>
            </a:r>
          </a:p>
        </p:txBody>
      </p:sp>
    </p:spTree>
    <p:extLst>
      <p:ext uri="{BB962C8B-B14F-4D97-AF65-F5344CB8AC3E}">
        <p14:creationId xmlns:p14="http://schemas.microsoft.com/office/powerpoint/2010/main" val="1787901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74188"/>
            <a:ext cx="6858000" cy="751914"/>
          </a:xfrm>
        </p:spPr>
        <p:txBody>
          <a:bodyPr/>
          <a:lstStyle/>
          <a:p>
            <a:br>
              <a:rPr lang="ru-RU" sz="4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Стандартизация </a:t>
            </a:r>
            <a:r>
              <a:rPr lang="en-US" sz="4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endParaRPr lang="ru-RU" sz="4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91735D-6293-4688-8182-515E91FC1F8A}"/>
              </a:ext>
            </a:extLst>
          </p:cNvPr>
          <p:cNvSpPr txBox="1"/>
          <p:nvPr/>
        </p:nvSpPr>
        <p:spPr>
          <a:xfrm>
            <a:off x="0" y="1917343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настоящее время определены самые общие концептуальные и архитектурные решения. В ближайшее время основной проблемой будет гармонизации различных стандартов с целью формирования единой и непротиворечивой нормативной базы для практической реализации Интернета вещей.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рамках деятельности сектора стандартизации телекоммуникаций Международного союза электросвязи (МСЭ-Т) имеются три глобальных инициативы GSI (Global Standards Initiative). </a:t>
            </a:r>
          </a:p>
        </p:txBody>
      </p:sp>
    </p:spTree>
    <p:extLst>
      <p:ext uri="{BB962C8B-B14F-4D97-AF65-F5344CB8AC3E}">
        <p14:creationId xmlns:p14="http://schemas.microsoft.com/office/powerpoint/2010/main" val="2907163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0AA5EA-9BD2-40BF-BFA5-E03172565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1744"/>
            <a:ext cx="9144000" cy="390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06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EE4A35-45C6-4642-B5C1-7E80D2959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2674"/>
            <a:ext cx="9144000" cy="325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14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A46279-2F9F-4F48-8D59-4B84B372CD84}"/>
              </a:ext>
            </a:extLst>
          </p:cNvPr>
          <p:cNvSpPr txBox="1"/>
          <p:nvPr/>
        </p:nvSpPr>
        <p:spPr>
          <a:xfrm>
            <a:off x="0" y="2800090"/>
            <a:ext cx="9144000" cy="2615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IоT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включает четыре функциональных уровня: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сенсоров и сенсорных сетей.</a:t>
            </a:r>
          </a:p>
          <a:p>
            <a:pPr marL="342900" indent="-34290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шлюзов и сетей.</a:t>
            </a:r>
          </a:p>
          <a:p>
            <a:pPr marL="342900" indent="-34290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Сервисный уровень.</a:t>
            </a:r>
          </a:p>
          <a:p>
            <a:pPr marL="342900" indent="-34290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приложений.</a:t>
            </a:r>
          </a:p>
          <a:p>
            <a:endParaRPr lang="ru-RU" dirty="0"/>
          </a:p>
        </p:txBody>
      </p:sp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5E62BE39-3333-4F77-8E61-C3A120FBD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106" y="942536"/>
            <a:ext cx="6858000" cy="971378"/>
          </a:xfrm>
        </p:spPr>
        <p:txBody>
          <a:bodyPr/>
          <a:lstStyle/>
          <a:p>
            <a:r>
              <a:rPr lang="ru-RU" sz="4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 </a:t>
            </a:r>
            <a:r>
              <a:rPr lang="en-US" sz="4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endParaRPr lang="ru-RU" sz="4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819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742B5D-73C2-429C-B6CD-5804E697F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38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620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204B59-2AE2-4E37-8D94-A7AC3CA39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7471"/>
            <a:ext cx="9144000" cy="5134132"/>
          </a:xfrm>
          <a:prstGeom prst="rect">
            <a:avLst/>
          </a:prstGeom>
        </p:spPr>
      </p:pic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15836599-CEA3-4362-AEF1-FC8825559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190" y="70708"/>
            <a:ext cx="6858000" cy="971378"/>
          </a:xfrm>
        </p:spPr>
        <p:txBody>
          <a:bodyPr/>
          <a:lstStyle/>
          <a:p>
            <a:r>
              <a:rPr lang="ru-RU" sz="4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 вещей </a:t>
            </a:r>
            <a:r>
              <a:rPr lang="en-US" sz="4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</a:t>
            </a:r>
            <a:r>
              <a:rPr lang="ru-RU" sz="4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</a:p>
        </p:txBody>
      </p:sp>
    </p:spTree>
    <p:extLst>
      <p:ext uri="{BB962C8B-B14F-4D97-AF65-F5344CB8AC3E}">
        <p14:creationId xmlns:p14="http://schemas.microsoft.com/office/powerpoint/2010/main" val="3985713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9">
            <a:extLst>
              <a:ext uri="{FF2B5EF4-FFF2-40B4-BE49-F238E27FC236}">
                <a16:creationId xmlns:a16="http://schemas.microsoft.com/office/drawing/2014/main" id="{2D5BAFFD-14DA-4950-88DB-A54EA5F67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392" y="456847"/>
            <a:ext cx="6858000" cy="971378"/>
          </a:xfrm>
        </p:spPr>
        <p:txBody>
          <a:bodyPr/>
          <a:lstStyle/>
          <a:p>
            <a:r>
              <a:rPr lang="ru-RU" sz="4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 нано-вещей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EAEF95-611F-429A-82E9-EB65BAAE3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5921"/>
            <a:ext cx="9146056" cy="484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73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824F2D-1D5E-4250-ACD2-94D608753E84}"/>
              </a:ext>
            </a:extLst>
          </p:cNvPr>
          <p:cNvSpPr txBox="1"/>
          <p:nvPr/>
        </p:nvSpPr>
        <p:spPr>
          <a:xfrm>
            <a:off x="0" y="1927274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Независимо от области применения, основными компонентами архитектуры сети Интернета нано-вещей являются: 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Нано-узлы,</a:t>
            </a:r>
          </a:p>
          <a:p>
            <a:pPr marL="342900" indent="-3429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Нано-шлюзы,</a:t>
            </a:r>
          </a:p>
          <a:p>
            <a:pPr marL="342900" indent="-3429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Нано-микро интерфейсы,</a:t>
            </a:r>
          </a:p>
          <a:p>
            <a:pPr marL="342900" indent="-3429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Шлюз.</a:t>
            </a:r>
          </a:p>
        </p:txBody>
      </p:sp>
    </p:spTree>
    <p:extLst>
      <p:ext uri="{BB962C8B-B14F-4D97-AF65-F5344CB8AC3E}">
        <p14:creationId xmlns:p14="http://schemas.microsoft.com/office/powerpoint/2010/main" val="1201610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58B169-4CE5-4521-8CB9-AA9E3A0642D6}"/>
              </a:ext>
            </a:extLst>
          </p:cNvPr>
          <p:cNvSpPr txBox="1"/>
          <p:nvPr/>
        </p:nvSpPr>
        <p:spPr>
          <a:xfrm>
            <a:off x="0" y="2026299"/>
            <a:ext cx="9144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Когнитивность означает наличие у объекта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следующих общих свойств: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 способность к самоанализу и реконфигурации с учётом имеющегося окружения, а также имея в виду достижение целей, обусловленных выполняемыми задачами;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 способность адаптировать своё состояние согласно имеющимся условиям или событиям, на основе определенных критериев и знаний о предыдущих состояниях;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 возможность динамически изменять свою топологию и/или эксплуатационные параметры в соответствии с требованиями конкретного пользователя, когда это необходимо в рамках текущей политики обслуживания, оптимизации пропускной способности сети или иных показателей;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самоконфигурация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наличием распределенного управления на основе правил;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̶  возможность самостоятельного определения своего текущего состояния и, с учетом этого состояния – планирование своей работы, принимая определенные решения в ответ на сложившуюся ситуацию.</a:t>
            </a:r>
          </a:p>
        </p:txBody>
      </p:sp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42586771-FB07-4D4F-86EC-2C6D86BC1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77" y="456847"/>
            <a:ext cx="9003323" cy="1301615"/>
          </a:xfrm>
        </p:spPr>
        <p:txBody>
          <a:bodyPr/>
          <a:lstStyle/>
          <a:p>
            <a:r>
              <a:rPr lang="ru-RU" sz="4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Когнитивный Интернет вещей </a:t>
            </a:r>
            <a:r>
              <a:rPr lang="en-US" sz="4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CIoT</a:t>
            </a:r>
            <a:endParaRPr lang="ru-RU" sz="4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927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0F215E-26FE-4DD8-A7BA-3DA442A7DB3C}"/>
              </a:ext>
            </a:extLst>
          </p:cNvPr>
          <p:cNvSpPr txBox="1"/>
          <p:nvPr/>
        </p:nvSpPr>
        <p:spPr>
          <a:xfrm>
            <a:off x="0" y="856357"/>
            <a:ext cx="9144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На практике когнитивные интернет-вещи смогут: 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использовать технологии получения знаний о своей операционной и географической среде, местонахождении, например с помощью стандартных технологий позиционирования GPS/ГЛОНАСС; 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устанавливать самостоятельно или использовать готовые правила взаимодействия между объектами (интернет-вещами);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динамически и автономно корректировать свои операционные (рабочие) параметры и протоколы в соответствии с полученными знаниями для достижения заранее определенных целей, в частности выбирать наиболее подходящую технологию передачи радиосигнала; 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обучаться на основе достигнутых результатов с использованием лучших практик и наиболее эффективных политик для достижения целей создания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03318066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6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2784</TotalTime>
  <Words>879</Words>
  <Application>Microsoft Office PowerPoint</Application>
  <PresentationFormat>Экран (4:3)</PresentationFormat>
  <Paragraphs>66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PT Sans</vt:lpstr>
      <vt:lpstr>Times New Roman</vt:lpstr>
      <vt:lpstr>Специальное оформление</vt:lpstr>
      <vt:lpstr>Программирование управляемых технических систем</vt:lpstr>
      <vt:lpstr>Идея интернета вещей:</vt:lpstr>
      <vt:lpstr>Презентация PowerPoint</vt:lpstr>
      <vt:lpstr>Презентация PowerPoint</vt:lpstr>
      <vt:lpstr>Презентация PowerPoint</vt:lpstr>
      <vt:lpstr> Базовые принципы IoT</vt:lpstr>
      <vt:lpstr>Презентация PowerPoint</vt:lpstr>
      <vt:lpstr>Презентация PowerPoint</vt:lpstr>
      <vt:lpstr>Презентация PowerPoint</vt:lpstr>
      <vt:lpstr>Презентация PowerPoint</vt:lpstr>
      <vt:lpstr> Стандартизация IoT</vt:lpstr>
      <vt:lpstr>Презентация PowerPoint</vt:lpstr>
      <vt:lpstr>Презентация PowerPoint</vt:lpstr>
      <vt:lpstr>Архитектура  IoT</vt:lpstr>
      <vt:lpstr>Презентация PowerPoint</vt:lpstr>
      <vt:lpstr>Веб вещей WoТ</vt:lpstr>
      <vt:lpstr>Интернет нано-вещей</vt:lpstr>
      <vt:lpstr>Презентация PowerPoint</vt:lpstr>
      <vt:lpstr>Когнитивный Интернет вещей CIoT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Закожурников Сергей Сергеевич</cp:lastModifiedBy>
  <cp:revision>105</cp:revision>
  <dcterms:created xsi:type="dcterms:W3CDTF">2015-07-29T11:14:37Z</dcterms:created>
  <dcterms:modified xsi:type="dcterms:W3CDTF">2024-01-21T08:56:06Z</dcterms:modified>
</cp:coreProperties>
</file>