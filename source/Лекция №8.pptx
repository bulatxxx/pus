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4" r:id="rId2"/>
    <p:sldId id="426" r:id="rId3"/>
    <p:sldId id="376" r:id="rId4"/>
    <p:sldId id="427" r:id="rId5"/>
    <p:sldId id="377" r:id="rId6"/>
    <p:sldId id="378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50" r:id="rId18"/>
    <p:sldId id="438" r:id="rId19"/>
    <p:sldId id="439" r:id="rId20"/>
    <p:sldId id="440" r:id="rId21"/>
    <p:sldId id="44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389" y="-44722"/>
            <a:ext cx="35986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92771" y="6083371"/>
            <a:ext cx="1907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T Sans"/>
              </a:rPr>
              <a:t>Online</a:t>
            </a:r>
            <a:r>
              <a:rPr lang="ru-RU" sz="1400" b="1" dirty="0">
                <a:solidFill>
                  <a:schemeClr val="bg1"/>
                </a:solidFill>
                <a:latin typeface="PT Sans"/>
              </a:rPr>
              <a:t>-</a:t>
            </a:r>
            <a:r>
              <a:rPr lang="en-US" sz="1400" b="1" dirty="0">
                <a:solidFill>
                  <a:schemeClr val="bg1"/>
                </a:solidFill>
                <a:latin typeface="PT Sans"/>
              </a:rPr>
              <a:t>edu.mirea.ru</a:t>
            </a:r>
            <a:endParaRPr lang="ru-RU" sz="1400" b="1" dirty="0">
              <a:solidFill>
                <a:schemeClr val="bg1"/>
              </a:solidFill>
              <a:latin typeface="PT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7958"/>
            <a:ext cx="9143999" cy="2644726"/>
          </a:xfrm>
        </p:spPr>
        <p:txBody>
          <a:bodyPr/>
          <a:lstStyle/>
          <a:p>
            <a:pPr algn="ctr"/>
            <a:r>
              <a:rPr lang="ru-RU" altLang="ru-RU" sz="6000" dirty="0">
                <a:latin typeface="Times New Roman" panose="02020603050405020304" pitchFamily="18" charset="0"/>
              </a:rPr>
              <a:t>Программирование управляемых технических систем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/>
              <a:t>: </a:t>
            </a:r>
            <a:r>
              <a:rPr lang="ru-RU" dirty="0" err="1"/>
              <a:t>Закожурников</a:t>
            </a:r>
            <a:r>
              <a:rPr lang="ru-RU" dirty="0"/>
              <a:t> Сергей Сергеевич</a:t>
            </a:r>
          </a:p>
          <a:p>
            <a:r>
              <a:rPr lang="en-US" dirty="0"/>
              <a:t>e-mail: zakozhurnikov@mirea.ru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0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E25A9D8F-794C-48DD-AB35-97D67A5B6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5" y="60557"/>
            <a:ext cx="9144000" cy="687156"/>
          </a:xfrm>
        </p:spPr>
        <p:txBody>
          <a:bodyPr/>
          <a:lstStyle/>
          <a:p>
            <a:r>
              <a:rPr lang="ru-RU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Зрелость концепции </a:t>
            </a:r>
            <a:r>
              <a:rPr lang="ru-RU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составляющих ее технологий </a:t>
            </a:r>
            <a:endParaRPr lang="ru-RU" sz="8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D36EF4-7D63-4B5F-9395-36657D5E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11" y="747712"/>
            <a:ext cx="8074696" cy="611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7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564E5-CE52-4FE9-B3A9-F445C70702EA}"/>
              </a:ext>
            </a:extLst>
          </p:cNvPr>
          <p:cNvSpPr txBox="1"/>
          <p:nvPr/>
        </p:nvSpPr>
        <p:spPr>
          <a:xfrm>
            <a:off x="-7035" y="1190742"/>
            <a:ext cx="91510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того чтобы концепция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получила стабильное развитие в будущем, необходима ее практическая востребованность, а это случиться, если Интернет вещей продемонстрирует на практике новые, более широкие возможности коммуникаций любых вещей в различных областях человеческой деятельности.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коммуникативные составляющие Интернета вещей: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беспроводные сенсорные сети (Wireless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Network, WSN), коммуникации малого радиуса действия (NFC,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 Communication) и межмашинные коммуникации (М2М, Machine-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-Machine).</a:t>
            </a:r>
          </a:p>
        </p:txBody>
      </p:sp>
    </p:spTree>
    <p:extLst>
      <p:ext uri="{BB962C8B-B14F-4D97-AF65-F5344CB8AC3E}">
        <p14:creationId xmlns:p14="http://schemas.microsoft.com/office/powerpoint/2010/main" val="390604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E25A9D8F-794C-48DD-AB35-97D67A5B6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5" y="60557"/>
            <a:ext cx="9144000" cy="319272"/>
          </a:xfrm>
        </p:spPr>
        <p:txBody>
          <a:bodyPr/>
          <a:lstStyle/>
          <a:p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</a:t>
            </a:r>
            <a:r>
              <a:rPr lang="ru-RU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IоT</a:t>
            </a:r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перспективными инфокоммуникационными технологиями </a:t>
            </a:r>
            <a:endParaRPr lang="ru-RU" sz="287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154169-68FF-4CED-B811-A05A126D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10" y="379829"/>
            <a:ext cx="8772525" cy="647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5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5CADAE-AC64-48BD-A9B6-0CED37F08C4C}"/>
              </a:ext>
            </a:extLst>
          </p:cNvPr>
          <p:cNvSpPr txBox="1"/>
          <p:nvPr/>
        </p:nvSpPr>
        <p:spPr>
          <a:xfrm>
            <a:off x="0" y="105329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данные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Data) 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D0596-056F-4546-BAF8-34D0A41A1D75}"/>
              </a:ext>
            </a:extLst>
          </p:cNvPr>
          <p:cNvSpPr txBox="1"/>
          <p:nvPr/>
        </p:nvSpPr>
        <p:spPr>
          <a:xfrm>
            <a:off x="0" y="2185411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 серия инструментов и методов обработки структурированных и неструктурированных данных огромных объёмов и значительного многообразия для получения необходимых результатов обработки. </a:t>
            </a:r>
          </a:p>
          <a:p>
            <a:pPr algn="just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качестве определяющих характеристик для больших данных отмечают «три V»: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объём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смысле величины физического объёма), скорость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смыслах как скорости прироста, так и необходимости высокоскоростной обработки и получения результатов), многообразие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variety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смысле возможности одновременной обработки различных типов структурированных и неструктурированных данных)</a:t>
            </a:r>
          </a:p>
        </p:txBody>
      </p:sp>
    </p:spTree>
    <p:extLst>
      <p:ext uri="{BB962C8B-B14F-4D97-AF65-F5344CB8AC3E}">
        <p14:creationId xmlns:p14="http://schemas.microsoft.com/office/powerpoint/2010/main" val="97908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1D00D9-A0C6-417E-A80F-44CC14B5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73" y="492369"/>
            <a:ext cx="7823457" cy="5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2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5E690D-B05D-4DC8-A1B7-DD8DE4E23A7A}"/>
              </a:ext>
            </a:extLst>
          </p:cNvPr>
          <p:cNvSpPr txBox="1"/>
          <p:nvPr/>
        </p:nvSpPr>
        <p:spPr>
          <a:xfrm>
            <a:off x="0" y="1364566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Основное отличие больших данных от «обычных» заключается в том, что эти данные невозможно обработать традиционными системами управления базами данных (СУБД) и решениями класса Business Intelligence из-за их большого объема и разнообразного состава. Другое важное их свойство – феноменальное ускорение накопления данных и постоянное изменение.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84739-BD0E-4F18-B318-C59B6E4C1098}"/>
              </a:ext>
            </a:extLst>
          </p:cNvPr>
          <p:cNvSpPr txBox="1"/>
          <p:nvPr/>
        </p:nvSpPr>
        <p:spPr>
          <a:xfrm>
            <a:off x="0" y="3912041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Прогнозируется, что внедрение технологий больших данных наибольшее влияние окажет на информационные технологии в производстве, здравоохранении, торговле, государственном управлении, а также в сферах и отраслях, где регистрируются индивидуальные перемещения ресурсов и где потенциально могут быть использованы технологии Интернета вещей.</a:t>
            </a:r>
          </a:p>
        </p:txBody>
      </p:sp>
    </p:spTree>
    <p:extLst>
      <p:ext uri="{BB962C8B-B14F-4D97-AF65-F5344CB8AC3E}">
        <p14:creationId xmlns:p14="http://schemas.microsoft.com/office/powerpoint/2010/main" val="25056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BB1F39-F6CE-4FA1-AF88-2D0B7691C5B7}"/>
              </a:ext>
            </a:extLst>
          </p:cNvPr>
          <p:cNvSpPr txBox="1"/>
          <p:nvPr/>
        </p:nvSpPr>
        <p:spPr>
          <a:xfrm>
            <a:off x="-1" y="115355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Облачные вычисления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E0158-BD51-421F-8E69-42FC4D8F6DB2}"/>
              </a:ext>
            </a:extLst>
          </p:cNvPr>
          <p:cNvSpPr txBox="1"/>
          <p:nvPr/>
        </p:nvSpPr>
        <p:spPr>
          <a:xfrm>
            <a:off x="0" y="2544653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Облачные вычисления подразумевают аренду услуг и ресурсов для хранения и обработки данных в глобальной сети вместо собственной инфраструктуры. У систем CC должны быть пять основных характеристик: самообслуживание по требованию, широкополосный сетевой доступ, пул ресурсов, возможность быстрой перенастройки или расширения и измеряемое обслуживание. </a:t>
            </a:r>
          </a:p>
        </p:txBody>
      </p:sp>
    </p:spTree>
    <p:extLst>
      <p:ext uri="{BB962C8B-B14F-4D97-AF65-F5344CB8AC3E}">
        <p14:creationId xmlns:p14="http://schemas.microsoft.com/office/powerpoint/2010/main" val="12402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925577-038C-462B-8372-8AFC690A7D5D}"/>
              </a:ext>
            </a:extLst>
          </p:cNvPr>
          <p:cNvSpPr txBox="1"/>
          <p:nvPr/>
        </p:nvSpPr>
        <p:spPr>
          <a:xfrm>
            <a:off x="0" y="243512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четыре модели развёртывания облачной инфраструктуры (так называемых «облаков»):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Частное облако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инфраструктура, предназначенная для использования одной организацией, включающей несколько потребителей (например, подразделений одной организации), возможно также клиентами и подрядчиками данной организации. Частное облако может находиться в собственности, управлении и эксплуатации, как самой организации, так и третьей стороны (или какой-либо их комбинации), и оно может физически существовать как внутри, так и вне юрисдикции владельца.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Публичное облако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инфраструктура, предназначенная для свободного использования широкой публикой. Публичное облако может находиться в собственности, управлении и эксплуатации коммерческих, научных и правительственных организаций (или какой-либо их комбинации). Публичное облако физически существует в юрисдикции владельца – поставщика услуг. </a:t>
            </a:r>
          </a:p>
        </p:txBody>
      </p:sp>
    </p:spTree>
    <p:extLst>
      <p:ext uri="{BB962C8B-B14F-4D97-AF65-F5344CB8AC3E}">
        <p14:creationId xmlns:p14="http://schemas.microsoft.com/office/powerpoint/2010/main" val="4068753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563505-BEED-4466-BB42-35BF29AE8D27}"/>
              </a:ext>
            </a:extLst>
          </p:cNvPr>
          <p:cNvSpPr txBox="1"/>
          <p:nvPr/>
        </p:nvSpPr>
        <p:spPr>
          <a:xfrm>
            <a:off x="0" y="856357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	Гибридное облако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это комбинация из двух или более различных облачных инфраструктур (частных, публичных или общественных), остающихся уникальными объектами, но связанных между собой стандартизованными или частными технологиями передачи данных и приложений. 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Общественное облако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вид инфраструктуры, предназначенный для использования конкретным сообществом потребителей из организаций, имеющих общие задачи (например, миссии, требований безопасности, политики, и соответствия различным требованиям). Общественное облако может находиться в кооперативной (совместной) собственности, управлении и эксплуатации одной или более из организаций сообщества или третьей стороны (или какой-либо их комбинации), и оно может физически существовать как внутри, так и вне юрисдикции владельца. </a:t>
            </a:r>
          </a:p>
        </p:txBody>
      </p:sp>
    </p:spTree>
    <p:extLst>
      <p:ext uri="{BB962C8B-B14F-4D97-AF65-F5344CB8AC3E}">
        <p14:creationId xmlns:p14="http://schemas.microsoft.com/office/powerpoint/2010/main" val="231371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F9EA2-71EC-4ED5-86E3-980D6652176F}"/>
              </a:ext>
            </a:extLst>
          </p:cNvPr>
          <p:cNvSpPr txBox="1"/>
          <p:nvPr/>
        </p:nvSpPr>
        <p:spPr>
          <a:xfrm>
            <a:off x="0" y="998805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услуги СС, обозначаемые в общем случае как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Service), можно отнести к трем основным классам: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«инфраструктура, как услуга»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Infrastructure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Service) – аренда мощности серверов и емкости систем хранения центров обработки данных (ЦОД);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«программное обеспечение, как услуга»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Software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Service) – аренда программного обеспечения (ПО), которое запускается «из облака»;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«платформа, как услуга»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Platform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Service) – аренда платформы разработки ПО коллективными или индивидуальными разработчиками.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Все остальные услуги систем СС (например,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«бизнес-процесс, как услуга» или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VSaaS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«видеонаблюдение, как услуга»), можно, так или иначе, отнести к трем вышеуказанным классам облачных услуг.</a:t>
            </a:r>
          </a:p>
        </p:txBody>
      </p:sp>
    </p:spTree>
    <p:extLst>
      <p:ext uri="{BB962C8B-B14F-4D97-AF65-F5344CB8AC3E}">
        <p14:creationId xmlns:p14="http://schemas.microsoft.com/office/powerpoint/2010/main" val="4269845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5972F-7C7E-4157-A0B3-EE9DB07C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19" y="464967"/>
            <a:ext cx="7015162" cy="62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B6C2FC-3F05-4320-8D12-5AF9E5D6CDE7}"/>
              </a:ext>
            </a:extLst>
          </p:cNvPr>
          <p:cNvSpPr txBox="1"/>
          <p:nvPr/>
        </p:nvSpPr>
        <p:spPr>
          <a:xfrm>
            <a:off x="0" y="98474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работы технологий Интернета вещей можно использовать и туманные вычисления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Computing). Под «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туманом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подразумевается приближение «облака» к земле, в данном случае «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туман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— это разновидность облачных сервисов, расположенных не где-то в недоступных высотах, а в окружающей нас среде. Иначе говоря,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не альтернатива, а дополнение 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Computing, и могут возникнуть ситуации их совместного действия (например, выполнение аналитического приложения), и в таком случае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окажет услугу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можно определить как в максимальной степени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виртуализированную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платформу, поддерживающую три основных типа сервисов, образующих межмашинные коммуникации M2M: вычисления, хранение и сеть. Задача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заключается в обеспечении взаимодействия миллиардов устройств между собой и с облачными ЦОД. </a:t>
            </a:r>
          </a:p>
        </p:txBody>
      </p:sp>
    </p:spTree>
    <p:extLst>
      <p:ext uri="{BB962C8B-B14F-4D97-AF65-F5344CB8AC3E}">
        <p14:creationId xmlns:p14="http://schemas.microsoft.com/office/powerpoint/2010/main" val="2206770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D74E7-2CB5-4FB7-8305-90E5F4758E0D}"/>
              </a:ext>
            </a:extLst>
          </p:cNvPr>
          <p:cNvSpPr txBox="1"/>
          <p:nvPr/>
        </p:nvSpPr>
        <p:spPr>
          <a:xfrm>
            <a:off x="0" y="690106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Парадигма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отличается от 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по целому ряду параметров.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Распределение вычислительной мощности и реальное время. Значительные вычислительные ресурсы могут быть размещены на периферии Сети, причем не должно быть зависимости от координат того места, где находится устройство, и при этом работа в режиме реального времени предполагает низкий уровень задержек при обмене данными, к тому же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может произойти конвергенция двух существовавших долгое время автономно друг от друга систем — управления бизнесом и технологическими системами.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Географическое распределение компонентов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распределения сервисов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менее централизована, чем для облаков, а отдельные устройства могут быть связаны между собой потоками данных и предоставлять друг другу «тяжелые» сервисы.</a:t>
            </a:r>
          </a:p>
        </p:txBody>
      </p:sp>
    </p:spTree>
    <p:extLst>
      <p:ext uri="{BB962C8B-B14F-4D97-AF65-F5344CB8AC3E}">
        <p14:creationId xmlns:p14="http://schemas.microsoft.com/office/powerpoint/2010/main" val="777518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DAA7D-084E-4429-9BA8-69C953F5A0BB}"/>
              </a:ext>
            </a:extLst>
          </p:cNvPr>
          <p:cNvSpPr txBox="1"/>
          <p:nvPr/>
        </p:nvSpPr>
        <p:spPr>
          <a:xfrm>
            <a:off x="0" y="1237957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Большой объем внешних данных. Устройства, экипированные многочисленными сенсорами, могут в реальном времени генерировать гигантские объемы данных.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Сложная топология. Миллионы географически распределенных узлов могут создавать разнообразные и не детерминированные заранее связи.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Мобильность и гетерогенность. Мобильность устройств потребует использования альтернативных протоколов, например протокола маршрутизации LISP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/ID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Protocol), который позволяет разделить функциональность IP-адресов на две части: идентификаторы хостов и локаторы маршрутизации. Концепция предусматривает установку туннельных маршрутизаторов, которые будут добавлять LISP-заголовки в информационные пакеты по мере их движения по сети.</a:t>
            </a:r>
          </a:p>
        </p:txBody>
      </p:sp>
    </p:spTree>
    <p:extLst>
      <p:ext uri="{BB962C8B-B14F-4D97-AF65-F5344CB8AC3E}">
        <p14:creationId xmlns:p14="http://schemas.microsoft.com/office/powerpoint/2010/main" val="915252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E0B76-281D-4B29-BF28-16FCC0A29E4C}"/>
              </a:ext>
            </a:extLst>
          </p:cNvPr>
          <p:cNvSpPr txBox="1"/>
          <p:nvPr/>
        </p:nvSpPr>
        <p:spPr>
          <a:xfrm>
            <a:off x="0" y="985131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Повсеместная компьютеризация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Ubiquitous Computing)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B9066-1FDB-4204-8C4E-C9BB964DF154}"/>
              </a:ext>
            </a:extLst>
          </p:cNvPr>
          <p:cNvSpPr txBox="1"/>
          <p:nvPr/>
        </p:nvSpPr>
        <p:spPr>
          <a:xfrm>
            <a:off x="0" y="2461846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Повсеместный (вездесущий, всепроникающий, тотальный) компьютинг, фигурирующий в специальной литературе под терминами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ubiquitous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pervasive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означает создание вездесущих интеллектуальных информационных систем, помогающих в ежедневной человеческой рутине – дома, в офисе, в больнице, на работе, в дороге. Тотальный компьютинг ставит во главу угла конечного пользователя, который должен получать вычислительное обслуживание непрерывно, 24 часа в сутки, 7 дней в неделю, причем обслуживание самого разного рода – от научных вычислений до управления кухонными агрегатами.</a:t>
            </a:r>
          </a:p>
        </p:txBody>
      </p:sp>
    </p:spTree>
    <p:extLst>
      <p:ext uri="{BB962C8B-B14F-4D97-AF65-F5344CB8AC3E}">
        <p14:creationId xmlns:p14="http://schemas.microsoft.com/office/powerpoint/2010/main" val="131951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E0B76-281D-4B29-BF28-16FCC0A29E4C}"/>
              </a:ext>
            </a:extLst>
          </p:cNvPr>
          <p:cNvSpPr txBox="1"/>
          <p:nvPr/>
        </p:nvSpPr>
        <p:spPr>
          <a:xfrm>
            <a:off x="0" y="392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Повсеместная компьютеризация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Ubiquitous Computing)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52F33B-053F-4535-B29C-5E1A6FFEE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1200721"/>
            <a:ext cx="6086475" cy="4410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F9EA93-107C-4A56-89E9-77DD9513429B}"/>
              </a:ext>
            </a:extLst>
          </p:cNvPr>
          <p:cNvSpPr txBox="1"/>
          <p:nvPr/>
        </p:nvSpPr>
        <p:spPr>
          <a:xfrm>
            <a:off x="0" y="5681259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вычислительных систем: мейнфреймы (кривая 1) – один компьютер, много пользователей; персональные компьютеры (кривая 2) – один компьютер, один пользователь; повсеместный компьютинг (кривая 3) – один пользователь, много компьютеров</a:t>
            </a:r>
          </a:p>
        </p:txBody>
      </p:sp>
    </p:spTree>
    <p:extLst>
      <p:ext uri="{BB962C8B-B14F-4D97-AF65-F5344CB8AC3E}">
        <p14:creationId xmlns:p14="http://schemas.microsoft.com/office/powerpoint/2010/main" val="1250481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EB79A2-A1D9-4431-9E44-C80209C9E6EC}"/>
              </a:ext>
            </a:extLst>
          </p:cNvPr>
          <p:cNvSpPr txBox="1"/>
          <p:nvPr/>
        </p:nvSpPr>
        <p:spPr>
          <a:xfrm>
            <a:off x="0" y="1012874"/>
            <a:ext cx="9144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выделить четыре основные характеристики тотального компьютинга: 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эффективное использование персонального умного пространства, имея в виду окружающие нас на работе, в транспорте, дома устройства с компьютерным управлением, необходимыми датчиками и исполнительными механизмами;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невидимость (умного пространства) – минимальное отвлечение внимания пользователя на управление окружающими вещами;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местная масштабируемость – любая точка персонального умного пространства должна быть сделана настолько вычислительно "мощной", насколько это необходимо пользователю;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маскирование неоднородностей – под неоднородностью понимаются различия как в техническом плане (называемые, обычно, гетерогенностью), так и не технические – организационные структуры, бизнес-процессы, экономические факторы.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 этому можно еще добавить знание контекста, т.е. пользователь существует в персональном умном пространстве не "вслепую", а представляя себе, сознавая контекст. В некотором отношении это противоречит свойству невидимости, однако, на самом деле, должен существовать разумный баланс между невидимостью и знанием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3206488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23340-0671-47C4-82E7-54E6C5A14E23}"/>
              </a:ext>
            </a:extLst>
          </p:cNvPr>
          <p:cNvSpPr txBox="1"/>
          <p:nvPr/>
        </p:nvSpPr>
        <p:spPr>
          <a:xfrm>
            <a:off x="0" y="97067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 практического применения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B8B6F-0364-4E98-AEF3-BA13A58FAE24}"/>
              </a:ext>
            </a:extLst>
          </p:cNvPr>
          <p:cNvSpPr txBox="1"/>
          <p:nvPr/>
        </p:nvSpPr>
        <p:spPr>
          <a:xfrm>
            <a:off x="0" y="1716258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Интернета вещей могут быть реализованы всевозможные «умные»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приложения в различных сферах деятельности и жизни человека: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«Умная планета» – человек сможет буквально «держать руку на пульсе» планеты: своевременно реагировать на упущения в планировании хозяйств, загрязнения и другие экологические проблемы, а значит, эффективно распоряжаться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невозобновляемыми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ресурсами.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«Умный город» – городская инфраструктура и сопутствующие муниципальные услуги, такие как образование, здравоохранение, общественная безопасность, ЖКХ, станут более связанными и эффективными. </a:t>
            </a:r>
          </a:p>
        </p:txBody>
      </p:sp>
    </p:spTree>
    <p:extLst>
      <p:ext uri="{BB962C8B-B14F-4D97-AF65-F5344CB8AC3E}">
        <p14:creationId xmlns:p14="http://schemas.microsoft.com/office/powerpoint/2010/main" val="668922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339BA4-2E60-4121-A05E-22779D0F328D}"/>
              </a:ext>
            </a:extLst>
          </p:cNvPr>
          <p:cNvSpPr txBox="1"/>
          <p:nvPr/>
        </p:nvSpPr>
        <p:spPr>
          <a:xfrm>
            <a:off x="0" y="1195753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«Умный дом» – система будет распознавать конкретные ситуации, происходящие в доме, и реагировать на них соответствующим образом, что обеспечит жильцам безопасность, комфорт и ресурсосбережение.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«Умная энергетика» – будет обеспечена надежная и качественная передача электрической энергии от источника к приемнику в нужное время и в необходимом количестве.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«Умный транспорт» – перемещение пассажиров из одной точки пространства в другую станет удобнее, быстрее и безопаснее. «Умная медицина» – врачи и пациенты смогут получить удаленный доступ к дорогостоящему медицинскому оборудованию или к электронной истории болезни в любом месте, будет реализована система удаленного мониторинга здоровья, автоматизирована выдача лекарственных препаратов больным и многое другое. </a:t>
            </a:r>
          </a:p>
        </p:txBody>
      </p:sp>
    </p:spTree>
    <p:extLst>
      <p:ext uri="{BB962C8B-B14F-4D97-AF65-F5344CB8AC3E}">
        <p14:creationId xmlns:p14="http://schemas.microsoft.com/office/powerpoint/2010/main" val="3069462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074FE5-54B4-46EA-A4C2-3C192111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7" y="630924"/>
            <a:ext cx="7709094" cy="622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59551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2791</TotalTime>
  <Words>1661</Words>
  <Application>Microsoft Office PowerPoint</Application>
  <PresentationFormat>Экран (4:3)</PresentationFormat>
  <Paragraphs>54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PT Sans</vt:lpstr>
      <vt:lpstr>Times New Roman</vt:lpstr>
      <vt:lpstr>Специальное оформление</vt:lpstr>
      <vt:lpstr>Программирование управляемых технических систем</vt:lpstr>
      <vt:lpstr>Зрелость концепции IoT и составляющих ее технологий </vt:lpstr>
      <vt:lpstr>Презентация PowerPoint</vt:lpstr>
      <vt:lpstr>Взаимодействие IоT с перспективными инфокоммуникационными технологиями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Закожурников Сергей Сергеевич</cp:lastModifiedBy>
  <cp:revision>112</cp:revision>
  <dcterms:created xsi:type="dcterms:W3CDTF">2015-07-29T11:14:37Z</dcterms:created>
  <dcterms:modified xsi:type="dcterms:W3CDTF">2024-01-21T09:02:41Z</dcterms:modified>
</cp:coreProperties>
</file>